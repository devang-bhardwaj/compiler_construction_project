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" panose="02000000000000000000" pitchFamily="2" charset="0"/>
      <p:regular r:id="rId13"/>
      <p:bold r:id="rId14"/>
      <p:italic r:id="rId15"/>
    </p:embeddedFont>
    <p:embeddedFont>
      <p:font typeface="Saira Medium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0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329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22953"/>
            <a:ext cx="7556421" cy="177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50"/>
              </a:lnSpc>
              <a:buNone/>
            </a:pPr>
            <a:r>
              <a:rPr lang="en-US" sz="5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ICO — Intermediate Code Optimizer</a:t>
            </a:r>
            <a:endParaRPr lang="en-US" sz="5550" dirty="0"/>
          </a:p>
        </p:txBody>
      </p:sp>
      <p:sp>
        <p:nvSpPr>
          <p:cNvPr id="4" name="Text 1"/>
          <p:cNvSpPr/>
          <p:nvPr/>
        </p:nvSpPr>
        <p:spPr>
          <a:xfrm>
            <a:off x="793790" y="3920133"/>
            <a:ext cx="75564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Transforming Compiler Learning into an Immersive, Visual Experience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146119"/>
            <a:ext cx="7556421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Presenter:</a:t>
            </a:r>
            <a:r>
              <a:rPr lang="en-US" sz="2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Devang Bhardwaj</a:t>
            </a:r>
            <a:endParaRPr lang="en-US" sz="2200" dirty="0"/>
          </a:p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Faculty Mentor:</a:t>
            </a:r>
            <a:r>
              <a:rPr lang="en-US" sz="2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Rahul Kumar</a:t>
            </a:r>
            <a:endParaRPr lang="en-US" sz="2200" dirty="0"/>
          </a:p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Institution:</a:t>
            </a:r>
            <a:r>
              <a:rPr lang="en-US" sz="2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Suresh Gyan Vihar University</a:t>
            </a:r>
            <a:endParaRPr lang="en-US" sz="2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492E8C-DC75-B141-72F7-7B1E4A1AE1F6}"/>
              </a:ext>
            </a:extLst>
          </p:cNvPr>
          <p:cNvSpPr/>
          <p:nvPr/>
        </p:nvSpPr>
        <p:spPr>
          <a:xfrm>
            <a:off x="12825663" y="7784432"/>
            <a:ext cx="1672390" cy="385010"/>
          </a:xfrm>
          <a:prstGeom prst="rect">
            <a:avLst/>
          </a:prstGeom>
          <a:solidFill>
            <a:srgbClr val="020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987" y="729377"/>
            <a:ext cx="2287786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Table of Contents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03770" y="1660699"/>
            <a:ext cx="22860" cy="6320790"/>
          </a:xfrm>
          <a:prstGeom prst="roundRect">
            <a:avLst>
              <a:gd name="adj" fmla="val 600480"/>
            </a:avLst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708934" y="1820838"/>
            <a:ext cx="457557" cy="22860"/>
          </a:xfrm>
          <a:prstGeom prst="roundRect">
            <a:avLst>
              <a:gd name="adj" fmla="val 600480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43631" y="1672731"/>
            <a:ext cx="343138" cy="343138"/>
          </a:xfrm>
          <a:prstGeom prst="roundRect">
            <a:avLst>
              <a:gd name="adj" fmla="val 40004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212270" y="1774839"/>
            <a:ext cx="228719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64819" y="1689274"/>
            <a:ext cx="2287786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Introduction &amp; Vision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463909" y="2594983"/>
            <a:ext cx="457557" cy="22860"/>
          </a:xfrm>
          <a:prstGeom prst="roundRect">
            <a:avLst>
              <a:gd name="adj" fmla="val 600480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43631" y="2434844"/>
            <a:ext cx="343138" cy="343138"/>
          </a:xfrm>
          <a:prstGeom prst="roundRect">
            <a:avLst>
              <a:gd name="adj" fmla="val 40004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200840" y="2523638"/>
            <a:ext cx="228719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77795" y="2463419"/>
            <a:ext cx="2287786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708934" y="3301380"/>
            <a:ext cx="457557" cy="22860"/>
          </a:xfrm>
          <a:prstGeom prst="roundRect">
            <a:avLst>
              <a:gd name="adj" fmla="val 600480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43631" y="3141241"/>
            <a:ext cx="343138" cy="343138"/>
          </a:xfrm>
          <a:prstGeom prst="roundRect">
            <a:avLst>
              <a:gd name="adj" fmla="val 40004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00840" y="3230036"/>
            <a:ext cx="228719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64819" y="3169816"/>
            <a:ext cx="2287786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Solution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463909" y="4007778"/>
            <a:ext cx="457557" cy="22860"/>
          </a:xfrm>
          <a:prstGeom prst="roundRect">
            <a:avLst>
              <a:gd name="adj" fmla="val 600480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43631" y="3847639"/>
            <a:ext cx="343138" cy="343138"/>
          </a:xfrm>
          <a:prstGeom prst="roundRect">
            <a:avLst>
              <a:gd name="adj" fmla="val 40004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00840" y="3936434"/>
            <a:ext cx="228719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077795" y="3876214"/>
            <a:ext cx="2287786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Core Features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708934" y="4714176"/>
            <a:ext cx="457557" cy="22860"/>
          </a:xfrm>
          <a:prstGeom prst="roundRect">
            <a:avLst>
              <a:gd name="adj" fmla="val 600480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143631" y="4554037"/>
            <a:ext cx="343138" cy="343138"/>
          </a:xfrm>
          <a:prstGeom prst="roundRect">
            <a:avLst>
              <a:gd name="adj" fmla="val 40004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200840" y="4630799"/>
            <a:ext cx="228719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377214" y="4606424"/>
            <a:ext cx="2175391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Optimization Techniques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7463909" y="5432480"/>
            <a:ext cx="457557" cy="22860"/>
          </a:xfrm>
          <a:prstGeom prst="roundRect">
            <a:avLst>
              <a:gd name="adj" fmla="val 600480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143631" y="5272341"/>
            <a:ext cx="343138" cy="343138"/>
          </a:xfrm>
          <a:prstGeom prst="roundRect">
            <a:avLst>
              <a:gd name="adj" fmla="val 40004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200840" y="5361136"/>
            <a:ext cx="228719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077795" y="5324729"/>
            <a:ext cx="1940123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Technical Architecture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6708934" y="6150784"/>
            <a:ext cx="457557" cy="22860"/>
          </a:xfrm>
          <a:prstGeom prst="roundRect">
            <a:avLst>
              <a:gd name="adj" fmla="val 600480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143631" y="5990645"/>
            <a:ext cx="343138" cy="343138"/>
          </a:xfrm>
          <a:prstGeom prst="roundRect">
            <a:avLst>
              <a:gd name="adj" fmla="val 40004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200840" y="6079440"/>
            <a:ext cx="228719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646176" y="6043033"/>
            <a:ext cx="1906429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Visual Metrics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7463909" y="6869088"/>
            <a:ext cx="457557" cy="22860"/>
          </a:xfrm>
          <a:prstGeom prst="roundRect">
            <a:avLst>
              <a:gd name="adj" fmla="val 600480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143631" y="6708949"/>
            <a:ext cx="343138" cy="343138"/>
          </a:xfrm>
          <a:prstGeom prst="roundRect">
            <a:avLst>
              <a:gd name="adj" fmla="val 40004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200840" y="6797744"/>
            <a:ext cx="228719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077795" y="6761337"/>
            <a:ext cx="1906429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A0012F2-EA49-D692-B501-B7CE1E172E8F}"/>
              </a:ext>
            </a:extLst>
          </p:cNvPr>
          <p:cNvSpPr/>
          <p:nvPr/>
        </p:nvSpPr>
        <p:spPr>
          <a:xfrm>
            <a:off x="12825663" y="7796464"/>
            <a:ext cx="1672390" cy="385010"/>
          </a:xfrm>
          <a:prstGeom prst="rect">
            <a:avLst/>
          </a:prstGeom>
          <a:solidFill>
            <a:srgbClr val="020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7452"/>
            <a:ext cx="5316260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Introduction &amp; Vision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93790" y="2093067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What is ICO?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3790" y="2584795"/>
            <a:ext cx="4227790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revolutionary developer tool that analyzes and optimizes intermediate representation (IR) code through interactive visualization.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93790" y="4034239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Vision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93790" y="4417680"/>
            <a:ext cx="4227790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Making the invisible work of compilers visible through real-time animation and step-by-step transformation visualization.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3790" y="581898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Core Objective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93790" y="6262589"/>
            <a:ext cx="422779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 complex compiler theory into an accessible, visual learning experience for computer science students and practitioners.</a:t>
            </a:r>
            <a:endParaRPr lang="en-US" sz="2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458" y="-139184"/>
            <a:ext cx="8428942" cy="832065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EEB28F9-21F3-9FB4-B08D-EF215F9B975C}"/>
              </a:ext>
            </a:extLst>
          </p:cNvPr>
          <p:cNvSpPr/>
          <p:nvPr/>
        </p:nvSpPr>
        <p:spPr>
          <a:xfrm>
            <a:off x="12825663" y="7784432"/>
            <a:ext cx="1672390" cy="385010"/>
          </a:xfrm>
          <a:prstGeom prst="rect">
            <a:avLst/>
          </a:prstGeom>
          <a:solidFill>
            <a:srgbClr val="020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64525"/>
            <a:ext cx="5831086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Problem Statement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93790" y="1868210"/>
            <a:ext cx="7556421" cy="1494234"/>
          </a:xfrm>
          <a:prstGeom prst="roundRect">
            <a:avLst>
              <a:gd name="adj" fmla="val 7343"/>
            </a:avLst>
          </a:prstGeom>
          <a:solidFill>
            <a:srgbClr val="030303">
              <a:alpha val="75000"/>
            </a:srgbClr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70930" y="1868210"/>
            <a:ext cx="91440" cy="1494234"/>
          </a:xfrm>
          <a:prstGeom prst="roundRect">
            <a:avLst>
              <a:gd name="adj" fmla="val 20930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97875" y="2103715"/>
            <a:ext cx="3010972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Black Box Challenge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1097875" y="2531626"/>
            <a:ext cx="701682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Compiler optimizations operate silently, hiding transformation logic from students. The "why" and "how" remain mysterious without visual guidance.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93790" y="3521869"/>
            <a:ext cx="7556421" cy="1791891"/>
          </a:xfrm>
          <a:prstGeom prst="roundRect">
            <a:avLst>
              <a:gd name="adj" fmla="val 6124"/>
            </a:avLst>
          </a:prstGeom>
          <a:solidFill>
            <a:srgbClr val="030303">
              <a:alpha val="75000"/>
            </a:srgbClr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0930" y="3521869"/>
            <a:ext cx="91440" cy="1791891"/>
          </a:xfrm>
          <a:prstGeom prst="roundRect">
            <a:avLst>
              <a:gd name="adj" fmla="val 20930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7875" y="3757374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Learning Gap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1097875" y="4185285"/>
            <a:ext cx="7016829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tools execute optimizations without step-by-step breakdowns. Students struggle to connect theoretical concepts like CSE or DCE to actual code transformations.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793790" y="5473184"/>
            <a:ext cx="7556421" cy="1791891"/>
          </a:xfrm>
          <a:prstGeom prst="roundRect">
            <a:avLst>
              <a:gd name="adj" fmla="val 6124"/>
            </a:avLst>
          </a:prstGeom>
          <a:solidFill>
            <a:srgbClr val="030303">
              <a:alpha val="75000"/>
            </a:srgbClr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70930" y="5473184"/>
            <a:ext cx="91440" cy="1791891"/>
          </a:xfrm>
          <a:prstGeom prst="roundRect">
            <a:avLst>
              <a:gd name="adj" fmla="val 20930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97875" y="5708690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Steep Learning Curve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1097875" y="6136600"/>
            <a:ext cx="7016829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intermediate code transformations requires abstract thinking that many students find difficult without interactive, visual reinforcement.</a:t>
            </a:r>
            <a:endParaRPr lang="en-US" sz="16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996975-E2F0-4CE7-4DD8-308E67ED6703}"/>
              </a:ext>
            </a:extLst>
          </p:cNvPr>
          <p:cNvSpPr/>
          <p:nvPr/>
        </p:nvSpPr>
        <p:spPr>
          <a:xfrm>
            <a:off x="12825663" y="7784432"/>
            <a:ext cx="1672390" cy="385010"/>
          </a:xfrm>
          <a:prstGeom prst="rect">
            <a:avLst/>
          </a:prstGeom>
          <a:solidFill>
            <a:srgbClr val="020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42762"/>
            <a:ext cx="6957298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ICO: The Interactive Solution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6280190" y="2046446"/>
            <a:ext cx="3698438" cy="2589252"/>
          </a:xfrm>
          <a:prstGeom prst="roundRect">
            <a:avLst>
              <a:gd name="adj" fmla="val 739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515695" y="2281952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1074" y="2457331"/>
            <a:ext cx="287060" cy="2870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15695" y="307931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Interactive Pipeline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6515695" y="3507224"/>
            <a:ext cx="3227427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Step-by-step control over optimization passes with toggle logic for each transformation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10138053" y="2046446"/>
            <a:ext cx="3698558" cy="2589252"/>
          </a:xfrm>
          <a:prstGeom prst="roundRect">
            <a:avLst>
              <a:gd name="adj" fmla="val 739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10373558" y="2281952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48937" y="2457331"/>
            <a:ext cx="287060" cy="2870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73558" y="307931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Real-Time Animation</a:t>
            </a:r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10373558" y="3507224"/>
            <a:ext cx="3227546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Watch code evolve visually as each optimization transforms intermediate representation</a:t>
            </a:r>
            <a:endParaRPr lang="en-US" dirty="0"/>
          </a:p>
        </p:txBody>
      </p:sp>
      <p:sp>
        <p:nvSpPr>
          <p:cNvPr id="14" name="Shape 9"/>
          <p:cNvSpPr/>
          <p:nvPr/>
        </p:nvSpPr>
        <p:spPr>
          <a:xfrm>
            <a:off x="6280190" y="4795123"/>
            <a:ext cx="7556421" cy="2291596"/>
          </a:xfrm>
          <a:prstGeom prst="roundRect">
            <a:avLst>
              <a:gd name="adj" fmla="val 835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5" name="Shape 10"/>
          <p:cNvSpPr/>
          <p:nvPr/>
        </p:nvSpPr>
        <p:spPr>
          <a:xfrm>
            <a:off x="6515695" y="5030629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 sz="200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91074" y="5206008"/>
            <a:ext cx="287060" cy="2870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15695" y="5827990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Visual Evolution</a:t>
            </a:r>
            <a:endParaRPr lang="en-US" sz="2400" dirty="0"/>
          </a:p>
        </p:txBody>
      </p:sp>
      <p:sp>
        <p:nvSpPr>
          <p:cNvPr id="18" name="Text 12"/>
          <p:cNvSpPr/>
          <p:nvPr/>
        </p:nvSpPr>
        <p:spPr>
          <a:xfrm>
            <a:off x="6515695" y="6255901"/>
            <a:ext cx="708540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 flow graphs update dynamically, showing basic block transformations instantly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03189F-7140-362E-4B5A-566C8116E34D}"/>
              </a:ext>
            </a:extLst>
          </p:cNvPr>
          <p:cNvSpPr/>
          <p:nvPr/>
        </p:nvSpPr>
        <p:spPr>
          <a:xfrm>
            <a:off x="12825663" y="7784432"/>
            <a:ext cx="1672390" cy="385010"/>
          </a:xfrm>
          <a:prstGeom prst="rect">
            <a:avLst/>
          </a:prstGeom>
          <a:solidFill>
            <a:srgbClr val="020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85505"/>
            <a:ext cx="77869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Core Optimization Techniques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57187"/>
            <a:ext cx="13042821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ICO implements industry-standard optimization passes that transform intermediate code efficiently: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787848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7579" y="2787848"/>
            <a:ext cx="340256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Constant Folding &amp; Propagation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87579" y="3605332"/>
            <a:ext cx="3402568" cy="130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Evaluate and replace constants at compile time, eliminating runtime calculations and reducing instruction count.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6962" y="2787848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10751" y="2787848"/>
            <a:ext cx="340256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Common Subexpression Elimination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010751" y="3605332"/>
            <a:ext cx="3402568" cy="130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and remove redundant calculations, storing intermediate results for reuse across multiple expressions.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40133" y="2787848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33923" y="2787848"/>
            <a:ext cx="29504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Dead Code Elimination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0433923" y="3251002"/>
            <a:ext cx="3402568" cy="130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 unreachable or unused code blocks, streamlining the final program and reducing memory footprint.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274588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87579" y="52745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Copy Propagation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587579" y="5737741"/>
            <a:ext cx="3402568" cy="130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Replace variables with their assigned values, simplifying code structure and enabling further optimizations.</a:t>
            </a:r>
            <a:endParaRPr lang="en-US" sz="17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16962" y="5274588"/>
            <a:ext cx="566976" cy="5669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010751" y="52745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Strength Reduction</a:t>
            </a:r>
            <a:endParaRPr lang="en-US" sz="2200" dirty="0"/>
          </a:p>
        </p:txBody>
      </p:sp>
      <p:sp>
        <p:nvSpPr>
          <p:cNvPr id="18" name="Text 11"/>
          <p:cNvSpPr/>
          <p:nvPr/>
        </p:nvSpPr>
        <p:spPr>
          <a:xfrm>
            <a:off x="6010751" y="5737741"/>
            <a:ext cx="3402568" cy="130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Substitute expensive operations with cheaper equivalents (e.g., multiplication with bit shifts), improving execution efficiency.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C5DCCD-468A-C671-4879-8D16FFE841A6}"/>
              </a:ext>
            </a:extLst>
          </p:cNvPr>
          <p:cNvSpPr/>
          <p:nvPr/>
        </p:nvSpPr>
        <p:spPr>
          <a:xfrm>
            <a:off x="12825663" y="7784432"/>
            <a:ext cx="1672390" cy="385010"/>
          </a:xfrm>
          <a:prstGeom prst="rect">
            <a:avLst/>
          </a:prstGeom>
          <a:solidFill>
            <a:srgbClr val="020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8639" y="640100"/>
            <a:ext cx="73088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UI/UX: Futuristic Dashboard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157" y="1897925"/>
            <a:ext cx="5678906" cy="56789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52368" y="2494974"/>
            <a:ext cx="33619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Visual Strategy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857762" y="3040380"/>
            <a:ext cx="4986349" cy="979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Cyberpunk aesthetic with glassmorphism effects, neon accents (cyan, purple, green), and futuristic design principles.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871617" y="4201597"/>
            <a:ext cx="33619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Key Modules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8857762" y="4737378"/>
            <a:ext cx="4986349" cy="2086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2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Monaco IR Editor:</a:t>
            </a: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High-fidelity code editing with syntax highlighting</a:t>
            </a:r>
            <a:endParaRPr lang="en-US" sz="20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2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CFG Visualizer:</a:t>
            </a: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Interactive control flow graph builder</a:t>
            </a:r>
            <a:endParaRPr lang="en-US" sz="20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2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Metrics Dashboard:</a:t>
            </a: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Real-time instruction counts and cost analysis</a:t>
            </a:r>
            <a:endParaRPr lang="en-US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F3DD3F-F888-F957-628C-3957F60BA73B}"/>
              </a:ext>
            </a:extLst>
          </p:cNvPr>
          <p:cNvSpPr/>
          <p:nvPr/>
        </p:nvSpPr>
        <p:spPr>
          <a:xfrm>
            <a:off x="12825663" y="7784432"/>
            <a:ext cx="1672390" cy="385010"/>
          </a:xfrm>
          <a:prstGeom prst="rect">
            <a:avLst/>
          </a:prstGeom>
          <a:solidFill>
            <a:srgbClr val="020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1502" y="0"/>
            <a:ext cx="5488898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10458"/>
            <a:ext cx="6379488" cy="797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5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System Architecture</a:t>
            </a:r>
            <a:endParaRPr lang="en-US" sz="5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1952268"/>
            <a:ext cx="1275874" cy="18222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99216" y="2207419"/>
            <a:ext cx="3189684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Frontend Layer</a:t>
            </a:r>
            <a:endParaRPr lang="en-US" sz="2500" dirty="0"/>
          </a:p>
        </p:txBody>
      </p:sp>
      <p:sp>
        <p:nvSpPr>
          <p:cNvPr id="6" name="Text 2"/>
          <p:cNvSpPr/>
          <p:nvPr/>
        </p:nvSpPr>
        <p:spPr>
          <a:xfrm>
            <a:off x="2299216" y="2743795"/>
            <a:ext cx="6050994" cy="77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18 with TypeScript, Framer Motion for animations, and React Flow for graph visualization</a:t>
            </a:r>
            <a:endParaRPr lang="en-US" sz="2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774519"/>
            <a:ext cx="1275874" cy="18222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99216" y="4029670"/>
            <a:ext cx="3189684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Backend API</a:t>
            </a:r>
            <a:endParaRPr lang="en-US" sz="2500" dirty="0"/>
          </a:p>
        </p:txBody>
      </p:sp>
      <p:sp>
        <p:nvSpPr>
          <p:cNvPr id="9" name="Text 4"/>
          <p:cNvSpPr/>
          <p:nvPr/>
        </p:nvSpPr>
        <p:spPr>
          <a:xfrm>
            <a:off x="2299216" y="4566047"/>
            <a:ext cx="6050994" cy="77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Express framework (Node.js) with TypeScript, handling optimization requests and code processing</a:t>
            </a:r>
            <a:endParaRPr lang="en-US" sz="2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596771"/>
            <a:ext cx="1275874" cy="18222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99216" y="5851922"/>
            <a:ext cx="3189684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Core Engine</a:t>
            </a:r>
            <a:endParaRPr lang="en-US" sz="2500" dirty="0"/>
          </a:p>
        </p:txBody>
      </p:sp>
      <p:sp>
        <p:nvSpPr>
          <p:cNvPr id="12" name="Text 6"/>
          <p:cNvSpPr/>
          <p:nvPr/>
        </p:nvSpPr>
        <p:spPr>
          <a:xfrm>
            <a:off x="2299216" y="6388298"/>
            <a:ext cx="6050994" cy="77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 IR parser, CFG builder, and modular optimization engine with pass-by-pass control</a:t>
            </a:r>
            <a:endParaRPr lang="en-US" sz="2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F1FFAA-E5CB-3EA6-05E7-FEC5C5DEBDA5}"/>
              </a:ext>
            </a:extLst>
          </p:cNvPr>
          <p:cNvSpPr/>
          <p:nvPr/>
        </p:nvSpPr>
        <p:spPr>
          <a:xfrm>
            <a:off x="12825663" y="7784432"/>
            <a:ext cx="1672390" cy="385010"/>
          </a:xfrm>
          <a:prstGeom prst="rect">
            <a:avLst/>
          </a:prstGeom>
          <a:solidFill>
            <a:srgbClr val="020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493752"/>
            <a:ext cx="6225421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Visual Metrics &amp; Analysis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93790" y="1603415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Performance Insights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3790" y="2174915"/>
            <a:ext cx="1304282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ICO provides real-time comparison of code efficiency metrics before and after optimization: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93790" y="2651879"/>
            <a:ext cx="13042821" cy="1357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Instruction count reduction percentage</a:t>
            </a:r>
            <a:endParaRPr lang="en-US" sz="200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Basic block transformation analysis</a:t>
            </a:r>
            <a:endParaRPr lang="en-US" sz="200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footprint optimization</a:t>
            </a:r>
            <a:endParaRPr lang="en-US" sz="200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Execution path simplification metrics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3790" y="4248864"/>
            <a:ext cx="2707719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93790" y="4820364"/>
            <a:ext cx="13042821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Upcoming features include SSA (Static Single Assignment) conversion, advanced loop optimizations, and AI-powered optimization explanations with natural language descriptions.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96509" y="5828308"/>
            <a:ext cx="4816316" cy="701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6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35%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2675573" y="6755805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8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Instruction Reduction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93790" y="7183715"/>
            <a:ext cx="642175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optimization impact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17575" y="5828308"/>
            <a:ext cx="4816316" cy="701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6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6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9296638" y="6755805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8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Optimization Passes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414855" y="7183715"/>
            <a:ext cx="642175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Currently implemented</a:t>
            </a:r>
            <a:endParaRPr lang="en-US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4FD858-2584-02F1-EDF9-151DD9BFD0A8}"/>
              </a:ext>
            </a:extLst>
          </p:cNvPr>
          <p:cNvSpPr/>
          <p:nvPr/>
        </p:nvSpPr>
        <p:spPr>
          <a:xfrm>
            <a:off x="12825663" y="7784432"/>
            <a:ext cx="1672390" cy="385010"/>
          </a:xfrm>
          <a:prstGeom prst="rect">
            <a:avLst/>
          </a:prstGeom>
          <a:solidFill>
            <a:srgbClr val="020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5241"/>
            <a:ext cx="7057549" cy="797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5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Conclusion &amp; Thank You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793790" y="2231827"/>
            <a:ext cx="4194572" cy="2658785"/>
          </a:xfrm>
          <a:prstGeom prst="roundRect">
            <a:avLst>
              <a:gd name="adj" fmla="val 8638"/>
            </a:avLst>
          </a:prstGeom>
          <a:solidFill>
            <a:srgbClr val="030303"/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79421" y="2517458"/>
            <a:ext cx="3189684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Key Achievement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79421" y="3053834"/>
            <a:ext cx="3623310" cy="1551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ICO successfully bridges the gap between compiler theory and practical implementation through interactive visualization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217914" y="2231827"/>
            <a:ext cx="4194572" cy="2658785"/>
          </a:xfrm>
          <a:prstGeom prst="roundRect">
            <a:avLst>
              <a:gd name="adj" fmla="val 8638"/>
            </a:avLst>
          </a:prstGeom>
          <a:solidFill>
            <a:srgbClr val="030303"/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503545" y="2517458"/>
            <a:ext cx="3189684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Educational Impact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503545" y="3053834"/>
            <a:ext cx="3623310" cy="1551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Makes complex optimization concepts accessible to students through step-by-step visual learning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642038" y="2231827"/>
            <a:ext cx="4194572" cy="2658785"/>
          </a:xfrm>
          <a:prstGeom prst="roundRect">
            <a:avLst>
              <a:gd name="adj" fmla="val 8638"/>
            </a:avLst>
          </a:prstGeom>
          <a:solidFill>
            <a:srgbClr val="030303"/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927669" y="2517458"/>
            <a:ext cx="3189684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Future Vision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9927669" y="3053834"/>
            <a:ext cx="3623310" cy="1551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Continuing development with SSA conversion, loop optimizations, and AI-assisted learning features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93790" y="5276470"/>
            <a:ext cx="13042821" cy="39410"/>
          </a:xfrm>
          <a:prstGeom prst="rect">
            <a:avLst/>
          </a:prstGeom>
          <a:solidFill>
            <a:srgbClr val="E5E0D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790" y="5574149"/>
            <a:ext cx="13042821" cy="387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Thank you for your time and attention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93790" y="6220301"/>
            <a:ext cx="13042821" cy="387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for questions and discussion</a:t>
            </a:r>
            <a:endParaRPr lang="en-US" sz="2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EC7220-6988-001C-3817-F77AE226F7AA}"/>
              </a:ext>
            </a:extLst>
          </p:cNvPr>
          <p:cNvSpPr/>
          <p:nvPr/>
        </p:nvSpPr>
        <p:spPr>
          <a:xfrm>
            <a:off x="12825663" y="7784432"/>
            <a:ext cx="1672390" cy="385010"/>
          </a:xfrm>
          <a:prstGeom prst="rect">
            <a:avLst/>
          </a:prstGeom>
          <a:solidFill>
            <a:srgbClr val="0202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604</Words>
  <Application>Microsoft Office PowerPoint</Application>
  <PresentationFormat>Custom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Roboto</vt:lpstr>
      <vt:lpstr>Arial</vt:lpstr>
      <vt:lpstr>Saira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Devang Bhardwaj</cp:lastModifiedBy>
  <cp:revision>2</cp:revision>
  <dcterms:created xsi:type="dcterms:W3CDTF">2026-03-29T03:44:03Z</dcterms:created>
  <dcterms:modified xsi:type="dcterms:W3CDTF">2026-03-29T03:59:13Z</dcterms:modified>
</cp:coreProperties>
</file>